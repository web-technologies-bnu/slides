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518" y="1600200"/>
            <a:ext cx="87368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Business of Digital Marketing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546016" y="2476500"/>
            <a:ext cx="40518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Traffic, SEO &amp; User Experience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79633" y="3291780"/>
            <a:ext cx="51845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guide to digital marketing strategies and AI-powered tools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 Overview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381000" y="2234654"/>
            <a:ext cx="2590800" cy="1321891"/>
          </a:xfrm>
          <a:prstGeom prst="roundRect">
            <a:avLst>
              <a:gd name="adj" fmla="val 864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63254"/>
            <a:ext cx="10978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768054"/>
            <a:ext cx="2176272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Traffic Generation: Technical SEO, keyword research, and analytics strategies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76600" y="2234654"/>
            <a:ext cx="2590800" cy="1321891"/>
          </a:xfrm>
          <a:prstGeom prst="roundRect">
            <a:avLst>
              <a:gd name="adj" fmla="val 8647"/>
            </a:avLst>
          </a:prstGeom>
          <a:solidFill>
            <a:srgbClr val="004E8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05200" y="2463254"/>
            <a:ext cx="10978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05200" y="2768054"/>
            <a:ext cx="2176272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Marketing: Tools for content creation, keyword research &amp; ad optimization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72200" y="2234654"/>
            <a:ext cx="2590800" cy="1321891"/>
          </a:xfrm>
          <a:prstGeom prst="roundRect">
            <a:avLst>
              <a:gd name="adj" fmla="val 8647"/>
            </a:avLst>
          </a:prstGeom>
          <a:solidFill>
            <a:srgbClr val="1B99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0" y="2463254"/>
            <a:ext cx="10978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2768054"/>
            <a:ext cx="2176272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User-Centric Design: UX principles, usability testing &amp; AI-powered site analysis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7376" y="2005905"/>
            <a:ext cx="48492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&amp; Analytics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502902" y="2958405"/>
            <a:ext cx="413819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Traffic Through Search Optimization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SEO?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381000" y="1243608"/>
            <a:ext cx="4114800" cy="999679"/>
          </a:xfrm>
          <a:prstGeom prst="roundRect">
            <a:avLst>
              <a:gd name="adj" fmla="val 3811"/>
            </a:avLst>
          </a:prstGeom>
          <a:solidFill>
            <a:srgbClr val="FFF5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243608"/>
            <a:ext cx="0" cy="999679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434108"/>
            <a:ext cx="206940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 Engine Optimization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679525"/>
            <a:ext cx="376961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of improving website visibility in organic search results to drive quality traffic and conversions.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395686"/>
            <a:ext cx="4114800" cy="999679"/>
          </a:xfrm>
          <a:prstGeom prst="roundRect">
            <a:avLst>
              <a:gd name="adj" fmla="val 3811"/>
            </a:avLst>
          </a:prstGeom>
          <a:solidFill>
            <a:srgbClr val="F0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395686"/>
            <a:ext cx="0" cy="999679"/>
          </a:xfrm>
          <a:prstGeom prst="line">
            <a:avLst/>
          </a:prstGeom>
          <a:noFill/>
          <a:ln w="38100">
            <a:solidFill>
              <a:srgbClr val="004E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2586186"/>
            <a:ext cx="189452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SEO Matters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831604"/>
            <a:ext cx="376961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 of online experiences begin with a search engine. Higher rankings lead to more visibility, credibility, and conversions.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547765"/>
            <a:ext cx="4114800" cy="999679"/>
          </a:xfrm>
          <a:prstGeom prst="roundRect">
            <a:avLst>
              <a:gd name="adj" fmla="val 3811"/>
            </a:avLst>
          </a:prstGeom>
          <a:solidFill>
            <a:srgbClr val="F0FB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547765"/>
            <a:ext cx="0" cy="999679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3738265"/>
            <a:ext cx="189452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Focus Areas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983682"/>
            <a:ext cx="376961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optimization, quality content, user experience, and authoritative backlinks work together for success.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8200" y="1591717"/>
            <a:ext cx="4114800" cy="2474268"/>
          </a:xfrm>
          <a:prstGeom prst="roundRect">
            <a:avLst>
              <a:gd name="adj" fmla="val 3080"/>
            </a:avLst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57750" y="1801267"/>
            <a:ext cx="189452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UX Principles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57750" y="2065734"/>
            <a:ext cx="3695700" cy="1790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User-centered design for actual needs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reduces cognitive load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for all users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feedback on actions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 in every feature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prevention over handling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9646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SEO Essentials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381000" y="1394966"/>
            <a:ext cx="2590800" cy="924223"/>
          </a:xfrm>
          <a:prstGeom prst="roundRect">
            <a:avLst>
              <a:gd name="adj" fmla="val 8245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566416"/>
            <a:ext cx="115614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Site Speed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552450" y="1801267"/>
            <a:ext cx="229285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load under 3 seconds, Core Web Vitals optimization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433489"/>
            <a:ext cx="2590800" cy="924223"/>
          </a:xfrm>
          <a:prstGeom prst="roundRect">
            <a:avLst>
              <a:gd name="adj" fmla="val 8245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2604939"/>
            <a:ext cx="115614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Mobile-First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52450" y="2839789"/>
            <a:ext cx="229285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 mandatory, mobile usability testing required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3472011"/>
            <a:ext cx="2590800" cy="924223"/>
          </a:xfrm>
          <a:prstGeom prst="roundRect">
            <a:avLst>
              <a:gd name="adj" fmla="val 8245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2450" y="3643461"/>
            <a:ext cx="115614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52450" y="3878312"/>
            <a:ext cx="229285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encryption required, secure browsing signals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276600" y="1394966"/>
            <a:ext cx="2590800" cy="924223"/>
          </a:xfrm>
          <a:prstGeom prst="roundRect">
            <a:avLst>
              <a:gd name="adj" fmla="val 8245"/>
            </a:avLst>
          </a:prstGeom>
          <a:solidFill>
            <a:srgbClr val="FFFFFF"/>
          </a:solidFill>
          <a:ln w="19050">
            <a:solidFill>
              <a:srgbClr val="004E8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48050" y="1566416"/>
            <a:ext cx="11658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Site Architecture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448050" y="1801267"/>
            <a:ext cx="229285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URL structure, XML sitemap, robots.txt configuration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276600" y="2433489"/>
            <a:ext cx="2590800" cy="924223"/>
          </a:xfrm>
          <a:prstGeom prst="roundRect">
            <a:avLst>
              <a:gd name="adj" fmla="val 8245"/>
            </a:avLst>
          </a:prstGeom>
          <a:solidFill>
            <a:srgbClr val="FFFFFF"/>
          </a:solidFill>
          <a:ln w="19050">
            <a:solidFill>
              <a:srgbClr val="004E8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48050" y="2604939"/>
            <a:ext cx="115614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Markup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448050" y="2839789"/>
            <a:ext cx="229285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implementation, rich snippet optimization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276600" y="3472011"/>
            <a:ext cx="2590800" cy="924223"/>
          </a:xfrm>
          <a:prstGeom prst="roundRect">
            <a:avLst>
              <a:gd name="adj" fmla="val 8245"/>
            </a:avLst>
          </a:prstGeom>
          <a:solidFill>
            <a:srgbClr val="FFFFFF"/>
          </a:solidFill>
          <a:ln w="19050">
            <a:solidFill>
              <a:srgbClr val="004E8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48050" y="3643461"/>
            <a:ext cx="115614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Indexability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3448050" y="3878312"/>
            <a:ext cx="229285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 budget optimization, canonical tags, proper redirects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172200" y="1394966"/>
            <a:ext cx="2590800" cy="924223"/>
          </a:xfrm>
          <a:prstGeom prst="roundRect">
            <a:avLst>
              <a:gd name="adj" fmla="val 8245"/>
            </a:avLst>
          </a:prstGeom>
          <a:solidFill>
            <a:srgbClr val="FFFFFF"/>
          </a:solidFill>
          <a:ln w="19050">
            <a:solidFill>
              <a:srgbClr val="1B99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43650" y="1566416"/>
            <a:ext cx="115614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Setup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343650" y="1801267"/>
            <a:ext cx="229285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Analytics 4, Search Console, conversion tracking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172200" y="2433489"/>
            <a:ext cx="2590800" cy="924223"/>
          </a:xfrm>
          <a:prstGeom prst="roundRect">
            <a:avLst>
              <a:gd name="adj" fmla="val 8245"/>
            </a:avLst>
          </a:prstGeom>
          <a:solidFill>
            <a:srgbClr val="FFFFFF"/>
          </a:solidFill>
          <a:ln w="19050">
            <a:solidFill>
              <a:srgbClr val="1B99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43650" y="2604939"/>
            <a:ext cx="115614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Internal Linking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343650" y="2839789"/>
            <a:ext cx="229285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link architecture, anchor text optimization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172200" y="3472011"/>
            <a:ext cx="2590800" cy="924223"/>
          </a:xfrm>
          <a:prstGeom prst="roundRect">
            <a:avLst>
              <a:gd name="adj" fmla="val 8245"/>
            </a:avLst>
          </a:prstGeom>
          <a:solidFill>
            <a:srgbClr val="FFFFFF"/>
          </a:solidFill>
          <a:ln w="19050">
            <a:solidFill>
              <a:srgbClr val="1B99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43650" y="3643461"/>
            <a:ext cx="1156145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Web Vitals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6343650" y="3878312"/>
            <a:ext cx="229285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LCP, FID, CLS metrics, performance monitoring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99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6985" y="2005905"/>
            <a:ext cx="653003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Marketing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987829" y="2958405"/>
            <a:ext cx="516834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Artificial Intelligence for Content &amp; Strategy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0333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Tools for Keyword Research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381000" y="1352550"/>
            <a:ext cx="4114800" cy="2933700"/>
          </a:xfrm>
          <a:prstGeom prst="roundRect">
            <a:avLst>
              <a:gd name="adj" fmla="val 3896"/>
            </a:avLst>
          </a:prstGeom>
          <a:solidFill>
            <a:srgbClr val="1B99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543050"/>
            <a:ext cx="19139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AI SEO Tools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847850"/>
            <a:ext cx="3733800" cy="2247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/ Claude: Keyword ideation, search intent analysis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Keyword Planner: Search volume data, competition insights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AnswerThePublic: Question-based keywords, visual search insights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Ubersuggest: Keyword suggestions, content ideas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48200" y="1049982"/>
            <a:ext cx="4114800" cy="2093268"/>
          </a:xfrm>
          <a:prstGeom prst="roundRect">
            <a:avLst>
              <a:gd name="adj" fmla="val 3640"/>
            </a:avLst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8700" y="1240482"/>
            <a:ext cx="1913954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Prompt Examples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38700" y="1504950"/>
            <a:ext cx="3733800" cy="14478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20 long-tail keywords for specific topic and audience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search intent for keyword lists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questions people ask about topics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content gaps in existing content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48200" y="3276600"/>
            <a:ext cx="4114800" cy="1464618"/>
          </a:xfrm>
          <a:prstGeom prst="roundRect">
            <a:avLst>
              <a:gd name="adj" fmla="val 5203"/>
            </a:avLst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9650" y="3448050"/>
            <a:ext cx="1933385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9650" y="3693468"/>
            <a:ext cx="37719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AI insights with real data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with keyword tools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keyword clusters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3118" y="2005905"/>
            <a:ext cx="59777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User-Centric Design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697060" y="2958405"/>
            <a:ext cx="374987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Principles &amp; Usability That Converts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6065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Usability Components Framework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381000" y="1106239"/>
            <a:ext cx="2692450" cy="1812131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106239"/>
            <a:ext cx="0" cy="181213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258639"/>
            <a:ext cx="1204722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Learnability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71500" y="1493490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easily users accomplish basic tasks on first use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1889671"/>
            <a:ext cx="23495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navigation labels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UI patterns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032671"/>
            <a:ext cx="2692450" cy="1652141"/>
          </a:xfrm>
          <a:prstGeom prst="roundRect">
            <a:avLst>
              <a:gd name="adj" fmla="val 23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032671"/>
            <a:ext cx="0" cy="165214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3185071"/>
            <a:ext cx="1204722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Efficiency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71500" y="3419921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quickly users perform tasks once learned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" y="3656112"/>
            <a:ext cx="23495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shortcuts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defaults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Auto-complete suggestions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25850" y="1186309"/>
            <a:ext cx="2692450" cy="1652141"/>
          </a:xfrm>
          <a:prstGeom prst="roundRect">
            <a:avLst>
              <a:gd name="adj" fmla="val 23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44900" y="1186309"/>
            <a:ext cx="0" cy="1652141"/>
          </a:xfrm>
          <a:prstGeom prst="line">
            <a:avLst/>
          </a:prstGeom>
          <a:noFill/>
          <a:ln w="38100">
            <a:solidFill>
              <a:srgbClr val="004E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6350" y="1338709"/>
            <a:ext cx="1204722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 Handling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416350" y="1573560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 and how well errors are handled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6350" y="1809750"/>
            <a:ext cx="23495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error messages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validation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functionality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25850" y="2952750"/>
            <a:ext cx="2692450" cy="1652141"/>
          </a:xfrm>
          <a:prstGeom prst="roundRect">
            <a:avLst>
              <a:gd name="adj" fmla="val 23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44900" y="2952750"/>
            <a:ext cx="0" cy="1652141"/>
          </a:xfrm>
          <a:prstGeom prst="line">
            <a:avLst/>
          </a:prstGeom>
          <a:noFill/>
          <a:ln w="38100">
            <a:solidFill>
              <a:srgbClr val="004E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6350" y="3105150"/>
            <a:ext cx="1204722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Satisfaction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3416350" y="3340001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pleasant the interface is to use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16350" y="3576191"/>
            <a:ext cx="23495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appeal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interactions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personality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070699" y="1106239"/>
            <a:ext cx="2692450" cy="1812131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89749" y="1106239"/>
            <a:ext cx="0" cy="1812131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1199" y="1258639"/>
            <a:ext cx="1204722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Memorability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261199" y="1493490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users remember interface after time away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1199" y="1889671"/>
            <a:ext cx="23495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patterns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Recognizable icons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hierarchy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70699" y="3032671"/>
            <a:ext cx="2692450" cy="1652141"/>
          </a:xfrm>
          <a:prstGeom prst="roundRect">
            <a:avLst>
              <a:gd name="adj" fmla="val 23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089749" y="3032671"/>
            <a:ext cx="0" cy="1652141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1199" y="3185071"/>
            <a:ext cx="1204722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Accessibility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261199" y="3419921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everyone use the product effectively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1199" y="3656112"/>
            <a:ext cx="23495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 support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navigation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contrast ratios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5961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Usability Testing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381000" y="1609874"/>
            <a:ext cx="4114800" cy="859036"/>
          </a:xfrm>
          <a:prstGeom prst="roundRect">
            <a:avLst>
              <a:gd name="adj" fmla="val 13306"/>
            </a:avLst>
          </a:prstGeom>
          <a:solidFill>
            <a:srgbClr val="1B99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800374"/>
            <a:ext cx="21276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AI Enhances Testing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105174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analyze websites and provide instant usability insights.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621310"/>
            <a:ext cx="4114800" cy="1464618"/>
          </a:xfrm>
          <a:prstGeom prst="roundRect">
            <a:avLst>
              <a:gd name="adj" fmla="val 5203"/>
            </a:avLst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2792760"/>
            <a:ext cx="1933385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Prompts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2450" y="3038177"/>
            <a:ext cx="37719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screenshot for usability issues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landing page conversion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UX improvements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48200" y="1164282"/>
            <a:ext cx="4114800" cy="2074218"/>
          </a:xfrm>
          <a:prstGeom prst="roundRect">
            <a:avLst>
              <a:gd name="adj" fmla="val 3674"/>
            </a:avLst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9650" y="1335732"/>
            <a:ext cx="1933385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4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AI Can Identify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9650" y="1581150"/>
            <a:ext cx="37719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hierarchy problems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violations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structure issues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design friction points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responsiveness gaps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8200" y="3371850"/>
            <a:ext cx="4114800" cy="1159818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9050">
            <a:solidFill>
              <a:srgbClr val="1B99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9650" y="3543300"/>
            <a:ext cx="1933385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9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9650" y="3788718"/>
            <a:ext cx="3771900" cy="571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ChatGPT/Claude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Clarity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22869" y="743992"/>
            <a:ext cx="369811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225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626096" y="1677442"/>
            <a:ext cx="5891808" cy="542925"/>
          </a:xfrm>
          <a:prstGeom prst="roundRect">
            <a:avLst>
              <a:gd name="adj" fmla="val 1403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42057" y="1848892"/>
            <a:ext cx="56598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drives sustainable organic traffic through technical optimization and quality content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626096" y="2372767"/>
            <a:ext cx="5891808" cy="542925"/>
          </a:xfrm>
          <a:prstGeom prst="roundRect">
            <a:avLst>
              <a:gd name="adj" fmla="val 1403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42057" y="2544217"/>
            <a:ext cx="56598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accelerate keyword research, content creation, and competitive analysis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626096" y="3068092"/>
            <a:ext cx="5891808" cy="542925"/>
          </a:xfrm>
          <a:prstGeom prst="roundRect">
            <a:avLst>
              <a:gd name="adj" fmla="val 1403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42057" y="3239542"/>
            <a:ext cx="56598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User-centric design is essential for conversions and ROI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567178" y="3896767"/>
            <a:ext cx="600964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67178" y="4212878"/>
            <a:ext cx="60096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your projects and implementation strategies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Business of Digital Marketing</dc:title>
  <dc:subject>SEO, Analytics, UX Design &amp; AI Tools</dc:subject>
  <dc:creator>Digital Marketing Course</dc:creator>
  <cp:lastModifiedBy>Digital Marketing Course</cp:lastModifiedBy>
  <cp:revision>1</cp:revision>
  <dcterms:created xsi:type="dcterms:W3CDTF">2025-12-04T16:00:42Z</dcterms:created>
  <dcterms:modified xsi:type="dcterms:W3CDTF">2025-12-04T16:00:42Z</dcterms:modified>
</cp:coreProperties>
</file>